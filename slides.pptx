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D401189-BB0B-6435-1DA4-1C9CAC35C12D}">
          <p14:sldIdLst>
            <p14:sldId id="256"/>
          </p14:sldIdLst>
        </p14:section>
        <p14:section name="Problem and idea" id="{D17316DA-220E-D03C-0FE5-F8D8B536F9AB}">
          <p14:sldIdLst>
            <p14:sldId id="257"/>
            <p14:sldId id="258"/>
          </p14:sldIdLst>
        </p14:section>
        <p14:section name="How it works" id="{D9D1FE56-8EBC-EF9C-008E-2839CB87D959}">
          <p14:sldIdLst>
            <p14:sldId id="259"/>
            <p14:sldId id="260"/>
            <p14:sldId id="261"/>
          </p14:sldIdLst>
        </p14:section>
        <p14:section name="Results" id="{BDE5794C-EAB5-1F31-1C70-085A2C5ACA07}">
          <p14:sldIdLst>
            <p14:sldId id="262"/>
            <p14:sldId id="263"/>
            <p14:sldId id="264"/>
          </p14:sldIdLst>
        </p14:section>
        <p14:section name="Next steps" id="{6DF05965-5C7E-C1AA-6359-D170E78DB772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y Simone" userId="6c37c363e6c26cdc" providerId="LiveId" clId="{542C939A-FDC4-4B37-B629-7BDF59DADC5E}"/>
    <pc:docChg chg="undo custSel addSld modSld sldOrd modSection">
      <pc:chgData name="Joey Simone" userId="6c37c363e6c26cdc" providerId="LiveId" clId="{542C939A-FDC4-4B37-B629-7BDF59DADC5E}" dt="2026-10-24T22:56:37.896" v="267" actId="14100"/>
      <pc:docMkLst>
        <pc:docMk/>
      </pc:docMkLst>
      <pc:sldChg chg="modSp mod">
        <pc:chgData name="Joey Simone" userId="6c37c363e6c26cdc" providerId="LiveId" clId="{542C939A-FDC4-4B37-B629-7BDF59DADC5E}" dt="2026-10-24T22:50:24.501" v="176" actId="20577"/>
        <pc:sldMkLst>
          <pc:docMk/>
          <pc:sldMk cId="0" sldId="256"/>
        </pc:sldMkLst>
        <pc:spChg chg="mod">
          <ac:chgData name="Joey Simone" userId="6c37c363e6c26cdc" providerId="LiveId" clId="{542C939A-FDC4-4B37-B629-7BDF59DADC5E}" dt="2026-10-24T22:50:24.501" v="176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Joey Simone" userId="6c37c363e6c26cdc" providerId="LiveId" clId="{542C939A-FDC4-4B37-B629-7BDF59DADC5E}" dt="2026-10-24T22:53:16.954" v="232" actId="20577"/>
        <pc:sldMkLst>
          <pc:docMk/>
          <pc:sldMk cId="0" sldId="257"/>
        </pc:sldMkLst>
        <pc:spChg chg="mod">
          <ac:chgData name="Joey Simone" userId="6c37c363e6c26cdc" providerId="LiveId" clId="{542C939A-FDC4-4B37-B629-7BDF59DADC5E}" dt="2026-10-24T22:50:44.578" v="201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Joey Simone" userId="6c37c363e6c26cdc" providerId="LiveId" clId="{542C939A-FDC4-4B37-B629-7BDF59DADC5E}" dt="2026-10-24T22:53:16.954" v="232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Joey Simone" userId="6c37c363e6c26cdc" providerId="LiveId" clId="{542C939A-FDC4-4B37-B629-7BDF59DADC5E}" dt="2026-10-24T22:50:59.234" v="219" actId="20577"/>
        <pc:sldMkLst>
          <pc:docMk/>
          <pc:sldMk cId="0" sldId="258"/>
        </pc:sldMkLst>
        <pc:spChg chg="mod">
          <ac:chgData name="Joey Simone" userId="6c37c363e6c26cdc" providerId="LiveId" clId="{542C939A-FDC4-4B37-B629-7BDF59DADC5E}" dt="2026-10-24T22:50:49.852" v="204" actId="3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Joey Simone" userId="6c37c363e6c26cdc" providerId="LiveId" clId="{542C939A-FDC4-4B37-B629-7BDF59DADC5E}" dt="2026-10-24T22:50:59.234" v="219" actId="20577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Joey Simone" userId="6c37c363e6c26cdc" providerId="LiveId" clId="{542C939A-FDC4-4B37-B629-7BDF59DADC5E}" dt="2026-10-24T22:52:19.857" v="220" actId="20577"/>
        <pc:sldMkLst>
          <pc:docMk/>
          <pc:sldMk cId="0" sldId="265"/>
        </pc:sldMkLst>
        <pc:spChg chg="mod">
          <ac:chgData name="Joey Simone" userId="6c37c363e6c26cdc" providerId="LiveId" clId="{542C939A-FDC4-4B37-B629-7BDF59DADC5E}" dt="2026-10-24T22:52:19.857" v="220" actId="20577"/>
          <ac:spMkLst>
            <pc:docMk/>
            <pc:sldMk cId="0" sldId="265"/>
            <ac:spMk id="4" creationId="{00000000-0000-0000-0000-000000000000}"/>
          </ac:spMkLst>
        </pc:spChg>
      </pc:sldChg>
      <pc:sldChg chg="addSp delSp modSp add mod ord">
        <pc:chgData name="Joey Simone" userId="6c37c363e6c26cdc" providerId="LiveId" clId="{542C939A-FDC4-4B37-B629-7BDF59DADC5E}" dt="2026-10-24T22:50:10.563" v="170" actId="478"/>
        <pc:sldMkLst>
          <pc:docMk/>
          <pc:sldMk cId="1721080247" sldId="266"/>
        </pc:sldMkLst>
        <pc:spChg chg="mod">
          <ac:chgData name="Joey Simone" userId="6c37c363e6c26cdc" providerId="LiveId" clId="{542C939A-FDC4-4B37-B629-7BDF59DADC5E}" dt="2026-10-24T22:50:04.420" v="168" actId="20577"/>
          <ac:spMkLst>
            <pc:docMk/>
            <pc:sldMk cId="1721080247" sldId="266"/>
            <ac:spMk id="2" creationId="{B0555800-EDDE-D6D8-3D05-89D5CBB0C6C1}"/>
          </ac:spMkLst>
        </pc:spChg>
        <pc:spChg chg="del">
          <ac:chgData name="Joey Simone" userId="6c37c363e6c26cdc" providerId="LiveId" clId="{542C939A-FDC4-4B37-B629-7BDF59DADC5E}" dt="2026-10-24T22:50:09.306" v="169" actId="478"/>
          <ac:spMkLst>
            <pc:docMk/>
            <pc:sldMk cId="1721080247" sldId="266"/>
            <ac:spMk id="3" creationId="{7E8BF222-955B-0984-AF92-BF9D471DCBD8}"/>
          </ac:spMkLst>
        </pc:spChg>
        <pc:spChg chg="del">
          <ac:chgData name="Joey Simone" userId="6c37c363e6c26cdc" providerId="LiveId" clId="{542C939A-FDC4-4B37-B629-7BDF59DADC5E}" dt="2026-10-24T22:50:10.563" v="170" actId="478"/>
          <ac:spMkLst>
            <pc:docMk/>
            <pc:sldMk cId="1721080247" sldId="266"/>
            <ac:spMk id="4" creationId="{AD943516-9AF5-DD6F-879B-47EFBEBCB323}"/>
          </ac:spMkLst>
        </pc:spChg>
        <pc:spChg chg="add mod">
          <ac:chgData name="Joey Simone" userId="6c37c363e6c26cdc" providerId="LiveId" clId="{542C939A-FDC4-4B37-B629-7BDF59DADC5E}" dt="2026-10-24T22:50:09.306" v="169" actId="478"/>
          <ac:spMkLst>
            <pc:docMk/>
            <pc:sldMk cId="1721080247" sldId="266"/>
            <ac:spMk id="6" creationId="{C96A7C4C-05E1-CA91-05D5-5FDB01A2F5A6}"/>
          </ac:spMkLst>
        </pc:spChg>
      </pc:sldChg>
      <pc:sldChg chg="addSp delSp modSp add mod">
        <pc:chgData name="Joey Simone" userId="6c37c363e6c26cdc" providerId="LiveId" clId="{542C939A-FDC4-4B37-B629-7BDF59DADC5E}" dt="2026-10-24T22:53:01.444" v="231" actId="14100"/>
        <pc:sldMkLst>
          <pc:docMk/>
          <pc:sldMk cId="571781890" sldId="267"/>
        </pc:sldMkLst>
        <pc:spChg chg="mod">
          <ac:chgData name="Joey Simone" userId="6c37c363e6c26cdc" providerId="LiveId" clId="{542C939A-FDC4-4B37-B629-7BDF59DADC5E}" dt="2026-10-24T22:52:34.966" v="226" actId="20577"/>
          <ac:spMkLst>
            <pc:docMk/>
            <pc:sldMk cId="571781890" sldId="267"/>
            <ac:spMk id="2" creationId="{7CAE2DFB-D7BB-28CF-5B58-325AA89B89BB}"/>
          </ac:spMkLst>
        </pc:spChg>
        <pc:spChg chg="del">
          <ac:chgData name="Joey Simone" userId="6c37c363e6c26cdc" providerId="LiveId" clId="{542C939A-FDC4-4B37-B629-7BDF59DADC5E}" dt="2026-10-24T22:52:28.296" v="224" actId="478"/>
          <ac:spMkLst>
            <pc:docMk/>
            <pc:sldMk cId="571781890" sldId="267"/>
            <ac:spMk id="3" creationId="{E003B283-AED5-5042-E0AD-3BA2757773E8}"/>
          </ac:spMkLst>
        </pc:spChg>
        <pc:spChg chg="del mod">
          <ac:chgData name="Joey Simone" userId="6c37c363e6c26cdc" providerId="LiveId" clId="{542C939A-FDC4-4B37-B629-7BDF59DADC5E}" dt="2026-10-24T22:52:27.295" v="223" actId="478"/>
          <ac:spMkLst>
            <pc:docMk/>
            <pc:sldMk cId="571781890" sldId="267"/>
            <ac:spMk id="4" creationId="{594D479E-248D-06EB-A9C6-6FD7FB1206D6}"/>
          </ac:spMkLst>
        </pc:spChg>
        <pc:picChg chg="add mod">
          <ac:chgData name="Joey Simone" userId="6c37c363e6c26cdc" providerId="LiveId" clId="{542C939A-FDC4-4B37-B629-7BDF59DADC5E}" dt="2026-10-24T22:53:01.444" v="231" actId="14100"/>
          <ac:picMkLst>
            <pc:docMk/>
            <pc:sldMk cId="571781890" sldId="267"/>
            <ac:picMk id="6" creationId="{B6B95199-F6E2-1A31-AEB9-A0B13C3B1167}"/>
          </ac:picMkLst>
        </pc:picChg>
      </pc:sldChg>
      <pc:sldChg chg="addSp delSp modSp add mod ord">
        <pc:chgData name="Joey Simone" userId="6c37c363e6c26cdc" providerId="LiveId" clId="{542C939A-FDC4-4B37-B629-7BDF59DADC5E}" dt="2026-10-24T22:56:37.896" v="267" actId="14100"/>
        <pc:sldMkLst>
          <pc:docMk/>
          <pc:sldMk cId="1745636721" sldId="268"/>
        </pc:sldMkLst>
        <pc:spChg chg="del">
          <ac:chgData name="Joey Simone" userId="6c37c363e6c26cdc" providerId="LiveId" clId="{542C939A-FDC4-4B37-B629-7BDF59DADC5E}" dt="2026-10-24T22:56:03.856" v="236" actId="478"/>
          <ac:spMkLst>
            <pc:docMk/>
            <pc:sldMk cId="1745636721" sldId="268"/>
            <ac:spMk id="2" creationId="{6DFE5871-4BF6-C604-76EE-2D2DFEC57F47}"/>
          </ac:spMkLst>
        </pc:spChg>
        <pc:spChg chg="add mod">
          <ac:chgData name="Joey Simone" userId="6c37c363e6c26cdc" providerId="LiveId" clId="{542C939A-FDC4-4B37-B629-7BDF59DADC5E}" dt="2026-10-24T22:56:17.278" v="255" actId="20577"/>
          <ac:spMkLst>
            <pc:docMk/>
            <pc:sldMk cId="1745636721" sldId="268"/>
            <ac:spMk id="4" creationId="{8FC73C74-42C4-47BE-3528-3C89E29A5D8D}"/>
          </ac:spMkLst>
        </pc:spChg>
        <pc:picChg chg="add mod">
          <ac:chgData name="Joey Simone" userId="6c37c363e6c26cdc" providerId="LiveId" clId="{542C939A-FDC4-4B37-B629-7BDF59DADC5E}" dt="2026-10-24T22:56:37.896" v="267" actId="14100"/>
          <ac:picMkLst>
            <pc:docMk/>
            <pc:sldMk cId="1745636721" sldId="268"/>
            <ac:picMk id="7" creationId="{AE0ED9AE-8069-1305-6A5E-1DA18F0BB8A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919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map with every 2026 race and every major forecaster side by side, plus an AI agent team, Joey, whose numbers are checked by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31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01168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1097280" y="3474720"/>
            <a:ext cx="9966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31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C9CD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C9CD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01168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bg1"/>
                </a:solidFill>
              </a:rPr>
              <a:t>★ </a:t>
            </a:r>
            <a:r>
              <a:rPr lang="en-US" sz="6000" b="1" dirty="0">
                <a:solidFill>
                  <a:srgbClr val="FF5B6B"/>
                </a:solidFill>
              </a:rPr>
              <a:t>2026</a:t>
            </a:r>
            <a:r>
              <a:rPr lang="en-US" sz="6000" b="1" dirty="0">
                <a:solidFill>
                  <a:schemeClr val="bg1"/>
                </a:solidFill>
              </a:rPr>
              <a:t> Midterm </a:t>
            </a:r>
            <a:r>
              <a:rPr lang="en-US" sz="6000" b="1" dirty="0">
                <a:solidFill>
                  <a:srgbClr val="8EC5FF"/>
                </a:solidFill>
              </a:rPr>
              <a:t>Tracker</a:t>
            </a:r>
            <a:r>
              <a:rPr lang="en-US" sz="6000" b="1" dirty="0">
                <a:solidFill>
                  <a:schemeClr val="bg1"/>
                </a:solidFill>
              </a:rPr>
              <a:t> ★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1097280" y="347472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Every race. Every forecaster. One map. Plus a fact-checked AI named Joey.</a:t>
            </a:r>
            <a:endParaRPr lang="en-US" sz="2400" dirty="0"/>
          </a:p>
        </p:txBody>
      </p:sp>
      <p:sp>
        <p:nvSpPr>
          <p:cNvPr id="4" name="byline"/>
          <p:cNvSpPr txBox="1"/>
          <p:nvPr/>
        </p:nvSpPr>
        <p:spPr>
          <a:xfrm>
            <a:off x="1097280" y="47548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CDF2"/>
                </a:solidFill>
              </a:rPr>
              <a:t>Joey Simone · MGT 409 final project · github.com/McCrocken27/midterm-tracker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The Problem</a:t>
            </a:r>
            <a:endParaRPr lang="en-US" sz="4000" dirty="0"/>
          </a:p>
        </p:txBody>
      </p:sp>
      <p:sp>
        <p:nvSpPr>
          <p:cNvPr id="3" name="problem bullets"/>
          <p:cNvSpPr txBox="1"/>
          <p:nvPr/>
        </p:nvSpPr>
        <p:spPr>
          <a:xfrm>
            <a:off x="548640" y="1463040"/>
            <a:ext cx="676656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"Is my race close?" means checking </a:t>
            </a:r>
            <a:r>
              <a:rPr lang="en-US" sz="2400" dirty="0">
                <a:solidFill>
                  <a:srgbClr val="FFC83D"/>
                </a:solidFill>
              </a:rPr>
              <a:t>10+ forecaster sites</a:t>
            </a:r>
            <a:r>
              <a:rPr lang="en-US" sz="2400" dirty="0">
                <a:solidFill>
                  <a:srgbClr val="FFFFFF"/>
                </a:solidFill>
              </a:rPr>
              <a:t>, several paywalled. It’s hard!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Each uses different words: Tilt, Lean, Likely, Safe. It’s confusing!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None tells you </a:t>
            </a:r>
            <a:r>
              <a:rPr lang="en-US" sz="2400" b="1" dirty="0">
                <a:solidFill>
                  <a:srgbClr val="FFFFFF"/>
                </a:solidFill>
              </a:rPr>
              <a:t>which races are on your ballot</a:t>
            </a:r>
            <a:r>
              <a:rPr lang="en-US" sz="2400" dirty="0">
                <a:solidFill>
                  <a:srgbClr val="FFFFFF"/>
                </a:solidFill>
              </a:rPr>
              <a:t> or how to register. It takes effort!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About </a:t>
            </a:r>
            <a:r>
              <a:rPr lang="en-US" sz="2400" dirty="0">
                <a:solidFill>
                  <a:srgbClr val="FFC83D"/>
                </a:solidFill>
              </a:rPr>
              <a:t>10 to 15 minutes per race</a:t>
            </a:r>
            <a:r>
              <a:rPr lang="en-US" sz="2400" dirty="0">
                <a:solidFill>
                  <a:srgbClr val="FFFFFF"/>
                </a:solidFill>
              </a:rPr>
              <a:t>, so most new voters just don’t do their research! It’s too gosh darn hard to know who to vote for!!!</a:t>
            </a:r>
            <a:endParaRPr lang="en-US" sz="2400" dirty="0"/>
          </a:p>
        </p:txBody>
      </p:sp>
      <p:sp>
        <p:nvSpPr>
          <p:cNvPr id="4" name="problem stat card"/>
          <p:cNvSpPr/>
          <p:nvPr/>
        </p:nvSpPr>
        <p:spPr>
          <a:xfrm>
            <a:off x="7863840" y="1554480"/>
            <a:ext cx="3749040" cy="3931920"/>
          </a:xfrm>
          <a:prstGeom prst="roundRect">
            <a:avLst>
              <a:gd name="adj" fmla="val 3659"/>
            </a:avLst>
          </a:prstGeom>
          <a:solidFill>
            <a:srgbClr val="1D2053"/>
          </a:solidFill>
          <a:ln w="31750">
            <a:solidFill>
              <a:srgbClr val="363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tat sites"/>
          <p:cNvSpPr txBox="1"/>
          <p:nvPr/>
        </p:nvSpPr>
        <p:spPr>
          <a:xfrm>
            <a:off x="8138160" y="17830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C83D"/>
                </a:solidFill>
              </a:rPr>
              <a:t>10</a:t>
            </a:r>
            <a:endParaRPr lang="en-US" sz="8000" dirty="0"/>
          </a:p>
        </p:txBody>
      </p:sp>
      <p:sp>
        <p:nvSpPr>
          <p:cNvPr id="6" name="stat sites label"/>
          <p:cNvSpPr txBox="1"/>
          <p:nvPr/>
        </p:nvSpPr>
        <p:spPr>
          <a:xfrm>
            <a:off x="8138160" y="2971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DF2"/>
                </a:solidFill>
              </a:rPr>
              <a:t>forecaster sites to compare one race</a:t>
            </a:r>
            <a:endParaRPr lang="en-US" sz="1600" dirty="0"/>
          </a:p>
        </p:txBody>
      </p:sp>
      <p:sp>
        <p:nvSpPr>
          <p:cNvPr id="7" name="stat minutes"/>
          <p:cNvSpPr txBox="1"/>
          <p:nvPr/>
        </p:nvSpPr>
        <p:spPr>
          <a:xfrm>
            <a:off x="8138160" y="3703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10–15 min</a:t>
            </a:r>
            <a:endParaRPr lang="en-US" sz="4400" dirty="0"/>
          </a:p>
        </p:txBody>
      </p:sp>
      <p:sp>
        <p:nvSpPr>
          <p:cNvPr id="8" name="stat minutes label"/>
          <p:cNvSpPr txBox="1"/>
          <p:nvPr/>
        </p:nvSpPr>
        <p:spPr>
          <a:xfrm>
            <a:off x="8138160" y="4526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DF2"/>
                </a:solidFill>
              </a:rPr>
              <a:t>per race, before you even find your ballot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C9CD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What’s New</a:t>
            </a:r>
            <a:endParaRPr lang="en-US" sz="4000" dirty="0"/>
          </a:p>
        </p:txBody>
      </p:sp>
      <p:sp>
        <p:nvSpPr>
          <p:cNvPr id="3" name="card 1"/>
          <p:cNvSpPr/>
          <p:nvPr/>
        </p:nvSpPr>
        <p:spPr>
          <a:xfrm>
            <a:off x="548640" y="1371600"/>
            <a:ext cx="3474720" cy="1874520"/>
          </a:xfrm>
          <a:prstGeom prst="roundRect">
            <a:avLst>
              <a:gd name="adj" fmla="val 7317"/>
            </a:avLst>
          </a:prstGeom>
          <a:solidFill>
            <a:srgbClr val="1D2053"/>
          </a:solidFill>
          <a:ln w="31750">
            <a:solidFill>
              <a:srgbClr val="363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ard 1 title"/>
          <p:cNvSpPr txBox="1"/>
          <p:nvPr/>
        </p:nvSpPr>
        <p:spPr>
          <a:xfrm>
            <a:off x="777240" y="1554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 </a:t>
            </a:r>
            <a:r>
              <a:rPr lang="en-US" sz="2000" b="1" dirty="0" err="1">
                <a:solidFill>
                  <a:srgbClr val="FFFFFF"/>
                </a:solidFill>
              </a:rPr>
              <a:t>forecasting</a:t>
            </a:r>
            <a:r>
              <a:rPr lang="en-US" sz="2000" b="1" dirty="0">
                <a:solidFill>
                  <a:srgbClr val="FFFFFF"/>
                </a:solidFill>
              </a:rPr>
              <a:t> outlets side by side</a:t>
            </a:r>
            <a:endParaRPr lang="en-US" sz="2000" dirty="0"/>
          </a:p>
        </p:txBody>
      </p:sp>
      <p:sp>
        <p:nvSpPr>
          <p:cNvPr id="5" name="card 1 text"/>
          <p:cNvSpPr txBox="1"/>
          <p:nvPr/>
        </p:nvSpPr>
        <p:spPr>
          <a:xfrm>
            <a:off x="777240" y="2240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CDF2"/>
                </a:solidFill>
              </a:rPr>
              <a:t>for all 506 races, plus sourced endorsements for 332 candidates</a:t>
            </a:r>
            <a:endParaRPr lang="en-US" sz="1500" dirty="0"/>
          </a:p>
        </p:txBody>
      </p:sp>
      <p:sp>
        <p:nvSpPr>
          <p:cNvPr id="6" name="card 2"/>
          <p:cNvSpPr/>
          <p:nvPr/>
        </p:nvSpPr>
        <p:spPr>
          <a:xfrm>
            <a:off x="4297680" y="1371600"/>
            <a:ext cx="3474720" cy="1874520"/>
          </a:xfrm>
          <a:prstGeom prst="roundRect">
            <a:avLst>
              <a:gd name="adj" fmla="val 7317"/>
            </a:avLst>
          </a:prstGeom>
          <a:solidFill>
            <a:srgbClr val="1D2053"/>
          </a:solidFill>
          <a:ln w="31750">
            <a:solidFill>
              <a:srgbClr val="363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ard 2 title"/>
          <p:cNvSpPr txBox="1"/>
          <p:nvPr/>
        </p:nvSpPr>
        <p:spPr>
          <a:xfrm>
            <a:off x="4526280" y="1554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 path for newcomers</a:t>
            </a:r>
            <a:endParaRPr lang="en-US" sz="2000" dirty="0"/>
          </a:p>
        </p:txBody>
      </p:sp>
      <p:sp>
        <p:nvSpPr>
          <p:cNvPr id="8" name="card 2 text"/>
          <p:cNvSpPr txBox="1"/>
          <p:nvPr/>
        </p:nvSpPr>
        <p:spPr>
          <a:xfrm>
            <a:off x="4526280" y="2240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CDF2"/>
                </a:solidFill>
              </a:rPr>
              <a:t>"What are the Midterms?" + Races to Watch</a:t>
            </a:r>
            <a:endParaRPr lang="en-US" sz="1500" dirty="0"/>
          </a:p>
        </p:txBody>
      </p:sp>
      <p:sp>
        <p:nvSpPr>
          <p:cNvPr id="9" name="card 3"/>
          <p:cNvSpPr/>
          <p:nvPr/>
        </p:nvSpPr>
        <p:spPr>
          <a:xfrm>
            <a:off x="8046720" y="1371600"/>
            <a:ext cx="3474720" cy="1874520"/>
          </a:xfrm>
          <a:prstGeom prst="roundRect">
            <a:avLst>
              <a:gd name="adj" fmla="val 7317"/>
            </a:avLst>
          </a:prstGeom>
          <a:solidFill>
            <a:srgbClr val="1D2053"/>
          </a:solidFill>
          <a:ln w="31750">
            <a:solidFill>
              <a:srgbClr val="363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 3 title"/>
          <p:cNvSpPr txBox="1"/>
          <p:nvPr/>
        </p:nvSpPr>
        <p:spPr>
          <a:xfrm>
            <a:off x="8275320" y="1554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Your ballot from your address</a:t>
            </a:r>
            <a:endParaRPr lang="en-US" sz="2000" dirty="0"/>
          </a:p>
        </p:txBody>
      </p:sp>
      <p:sp>
        <p:nvSpPr>
          <p:cNvPr id="11" name="card 3 text"/>
          <p:cNvSpPr txBox="1"/>
          <p:nvPr/>
        </p:nvSpPr>
        <p:spPr>
          <a:xfrm>
            <a:off x="8275320" y="2240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CDF2"/>
                </a:solidFill>
              </a:rPr>
              <a:t>address never stored</a:t>
            </a:r>
            <a:endParaRPr lang="en-US" sz="1500" dirty="0"/>
          </a:p>
        </p:txBody>
      </p:sp>
      <p:sp>
        <p:nvSpPr>
          <p:cNvPr id="12" name="card 4"/>
          <p:cNvSpPr/>
          <p:nvPr/>
        </p:nvSpPr>
        <p:spPr>
          <a:xfrm>
            <a:off x="548640" y="3520440"/>
            <a:ext cx="3474720" cy="1874520"/>
          </a:xfrm>
          <a:prstGeom prst="roundRect">
            <a:avLst>
              <a:gd name="adj" fmla="val 7317"/>
            </a:avLst>
          </a:prstGeom>
          <a:solidFill>
            <a:srgbClr val="1D2053"/>
          </a:solidFill>
          <a:ln w="31750">
            <a:solidFill>
              <a:srgbClr val="363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ard 4 title"/>
          <p:cNvSpPr txBox="1"/>
          <p:nvPr/>
        </p:nvSpPr>
        <p:spPr>
          <a:xfrm>
            <a:off x="777240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Prediction game (50 races)</a:t>
            </a:r>
            <a:endParaRPr lang="en-US" sz="2000" dirty="0"/>
          </a:p>
        </p:txBody>
      </p:sp>
      <p:sp>
        <p:nvSpPr>
          <p:cNvPr id="14" name="card 4 text"/>
          <p:cNvSpPr txBox="1"/>
          <p:nvPr/>
        </p:nvSpPr>
        <p:spPr>
          <a:xfrm>
            <a:off x="777240" y="4389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CDF2"/>
                </a:solidFill>
              </a:rPr>
              <a:t>Labubu avatars, badges, private leagues, leaderboard vs. the experts</a:t>
            </a:r>
            <a:endParaRPr lang="en-US" sz="1500" dirty="0"/>
          </a:p>
        </p:txBody>
      </p:sp>
      <p:sp>
        <p:nvSpPr>
          <p:cNvPr id="15" name="card 5"/>
          <p:cNvSpPr/>
          <p:nvPr/>
        </p:nvSpPr>
        <p:spPr>
          <a:xfrm>
            <a:off x="4297680" y="3520440"/>
            <a:ext cx="3474720" cy="1874520"/>
          </a:xfrm>
          <a:prstGeom prst="roundRect">
            <a:avLst>
              <a:gd name="adj" fmla="val 7317"/>
            </a:avLst>
          </a:prstGeom>
          <a:solidFill>
            <a:srgbClr val="1D2053"/>
          </a:solidFill>
          <a:ln w="31750">
            <a:solidFill>
              <a:srgbClr val="363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card 5 title"/>
          <p:cNvSpPr txBox="1"/>
          <p:nvPr/>
        </p:nvSpPr>
        <p:spPr>
          <a:xfrm>
            <a:off x="4526280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If, Election Night, News, Quiz</a:t>
            </a:r>
            <a:endParaRPr lang="en-US" sz="2000" dirty="0"/>
          </a:p>
        </p:txBody>
      </p:sp>
      <p:sp>
        <p:nvSpPr>
          <p:cNvPr id="17" name="card 5 text"/>
          <p:cNvSpPr txBox="1"/>
          <p:nvPr/>
        </p:nvSpPr>
        <p:spPr>
          <a:xfrm>
            <a:off x="4526280" y="4389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CDF2"/>
                </a:solidFill>
              </a:rPr>
              <a:t>all with 0 AI tokens</a:t>
            </a:r>
            <a:endParaRPr lang="en-US" sz="1500" dirty="0"/>
          </a:p>
        </p:txBody>
      </p:sp>
      <p:sp>
        <p:nvSpPr>
          <p:cNvPr id="18" name="card 6"/>
          <p:cNvSpPr/>
          <p:nvPr/>
        </p:nvSpPr>
        <p:spPr>
          <a:xfrm>
            <a:off x="8046720" y="3520440"/>
            <a:ext cx="3474720" cy="1874520"/>
          </a:xfrm>
          <a:prstGeom prst="roundRect">
            <a:avLst>
              <a:gd name="adj" fmla="val 7317"/>
            </a:avLst>
          </a:prstGeom>
          <a:solidFill>
            <a:srgbClr val="1D2053"/>
          </a:solidFill>
          <a:ln w="31750">
            <a:solidFill>
              <a:srgbClr val="363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 6 title"/>
          <p:cNvSpPr txBox="1"/>
          <p:nvPr/>
        </p:nvSpPr>
        <p:spPr>
          <a:xfrm>
            <a:off x="8275320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C83D"/>
                </a:solidFill>
              </a:rPr>
              <a:t>Ask Joey</a:t>
            </a:r>
            <a:endParaRPr lang="en-US" sz="2000" dirty="0"/>
          </a:p>
        </p:txBody>
      </p:sp>
      <p:sp>
        <p:nvSpPr>
          <p:cNvPr id="20" name="card 6 text"/>
          <p:cNvSpPr txBox="1"/>
          <p:nvPr/>
        </p:nvSpPr>
        <p:spPr>
          <a:xfrm>
            <a:off x="8275320" y="4389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CDF2"/>
                </a:solidFill>
              </a:rPr>
              <a:t>every number is checked by code against real data</a:t>
            </a:r>
            <a:endParaRPr lang="en-US" sz="1500" dirty="0"/>
          </a:p>
        </p:txBody>
      </p:sp>
      <p:sp>
        <p:nvSpPr>
          <p:cNvPr id="21" name="alternatives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DF2"/>
                </a:solidFill>
              </a:rPr>
              <a:t>Closest alternatives: 270toWin consensus maps, Wikipedia ratings tables, Ballotpedia, ChatGPT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C9CD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The agent team</a:t>
            </a:r>
            <a:endParaRPr lang="en-US" sz="4000" dirty="0"/>
          </a:p>
        </p:txBody>
      </p:sp>
      <p:sp>
        <p:nvSpPr>
          <p:cNvPr id="3" name="agent 1 box"/>
          <p:cNvSpPr/>
          <p:nvPr/>
        </p:nvSpPr>
        <p:spPr>
          <a:xfrm>
            <a:off x="548640" y="1600200"/>
            <a:ext cx="1645920" cy="1325880"/>
          </a:xfrm>
          <a:prstGeom prst="roundRect">
            <a:avLst>
              <a:gd name="adj" fmla="val 10345"/>
            </a:avLst>
          </a:prstGeom>
          <a:solidFill>
            <a:srgbClr val="FFF6D6"/>
          </a:solidFill>
          <a:ln w="31750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gent 1 label"/>
          <p:cNvSpPr txBox="1"/>
          <p:nvPr/>
        </p:nvSpPr>
        <p:spPr>
          <a:xfrm>
            <a:off x="621792" y="1691640"/>
            <a:ext cx="14996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2A00"/>
                </a:solidFill>
              </a:rPr>
              <a:t>Safety screen</a:t>
            </a:r>
            <a:endParaRPr lang="en-US" sz="17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A2A00"/>
                </a:solidFill>
              </a:rPr>
              <a:t>code</a:t>
            </a:r>
            <a:endParaRPr lang="en-US" sz="1700" dirty="0"/>
          </a:p>
        </p:txBody>
      </p:sp>
      <p:sp>
        <p:nvSpPr>
          <p:cNvPr id="5" name="arrow 1"/>
          <p:cNvSpPr txBox="1"/>
          <p:nvPr/>
        </p:nvSpPr>
        <p:spPr>
          <a:xfrm>
            <a:off x="2194560" y="2057400"/>
            <a:ext cx="246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DF2"/>
                </a:solidFill>
              </a:rPr>
              <a:t>▶</a:t>
            </a:r>
            <a:endParaRPr lang="en-US" sz="1400" dirty="0"/>
          </a:p>
        </p:txBody>
      </p:sp>
      <p:sp>
        <p:nvSpPr>
          <p:cNvPr id="6" name="agent 2 box"/>
          <p:cNvSpPr/>
          <p:nvPr/>
        </p:nvSpPr>
        <p:spPr>
          <a:xfrm>
            <a:off x="2441448" y="1600200"/>
            <a:ext cx="1645920" cy="1325880"/>
          </a:xfrm>
          <a:prstGeom prst="roundRect">
            <a:avLst>
              <a:gd name="adj" fmla="val 10345"/>
            </a:avLst>
          </a:prstGeom>
          <a:solidFill>
            <a:srgbClr val="1D2053"/>
          </a:solidFill>
          <a:ln w="31750">
            <a:solidFill>
              <a:srgbClr val="363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gent 2 label"/>
          <p:cNvSpPr txBox="1"/>
          <p:nvPr/>
        </p:nvSpPr>
        <p:spPr>
          <a:xfrm>
            <a:off x="2514600" y="1691640"/>
            <a:ext cx="14996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Router</a:t>
            </a:r>
            <a:endParaRPr lang="en-US" sz="17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model</a:t>
            </a:r>
            <a:endParaRPr lang="en-US" sz="1700" dirty="0"/>
          </a:p>
        </p:txBody>
      </p:sp>
      <p:sp>
        <p:nvSpPr>
          <p:cNvPr id="8" name="arrow 2"/>
          <p:cNvSpPr txBox="1"/>
          <p:nvPr/>
        </p:nvSpPr>
        <p:spPr>
          <a:xfrm>
            <a:off x="4087368" y="2057400"/>
            <a:ext cx="246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DF2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agent 3 box"/>
          <p:cNvSpPr/>
          <p:nvPr/>
        </p:nvSpPr>
        <p:spPr>
          <a:xfrm>
            <a:off x="4334256" y="1600200"/>
            <a:ext cx="1645920" cy="1325880"/>
          </a:xfrm>
          <a:prstGeom prst="roundRect">
            <a:avLst>
              <a:gd name="adj" fmla="val 10345"/>
            </a:avLst>
          </a:prstGeom>
          <a:solidFill>
            <a:srgbClr val="1D2053"/>
          </a:solidFill>
          <a:ln w="31750">
            <a:solidFill>
              <a:srgbClr val="363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gent 3 label"/>
          <p:cNvSpPr txBox="1"/>
          <p:nvPr/>
        </p:nvSpPr>
        <p:spPr>
          <a:xfrm>
            <a:off x="4407408" y="1691640"/>
            <a:ext cx="14996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Researcher</a:t>
            </a:r>
            <a:endParaRPr lang="en-US" sz="17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model + read-only tools</a:t>
            </a:r>
            <a:endParaRPr lang="en-US" sz="1700" dirty="0"/>
          </a:p>
        </p:txBody>
      </p:sp>
      <p:sp>
        <p:nvSpPr>
          <p:cNvPr id="11" name="arrow 3"/>
          <p:cNvSpPr txBox="1"/>
          <p:nvPr/>
        </p:nvSpPr>
        <p:spPr>
          <a:xfrm>
            <a:off x="5980176" y="2057400"/>
            <a:ext cx="246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DF2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agent 4 box"/>
          <p:cNvSpPr/>
          <p:nvPr/>
        </p:nvSpPr>
        <p:spPr>
          <a:xfrm>
            <a:off x="6227064" y="1600200"/>
            <a:ext cx="1645920" cy="1325880"/>
          </a:xfrm>
          <a:prstGeom prst="roundRect">
            <a:avLst>
              <a:gd name="adj" fmla="val 10345"/>
            </a:avLst>
          </a:prstGeom>
          <a:solidFill>
            <a:srgbClr val="1D2053"/>
          </a:solidFill>
          <a:ln w="31750">
            <a:solidFill>
              <a:srgbClr val="363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agent 4 label"/>
          <p:cNvSpPr txBox="1"/>
          <p:nvPr/>
        </p:nvSpPr>
        <p:spPr>
          <a:xfrm>
            <a:off x="6300216" y="1691640"/>
            <a:ext cx="14996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Analyst "Joey"</a:t>
            </a:r>
            <a:endParaRPr lang="en-US" sz="17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model</a:t>
            </a:r>
            <a:endParaRPr lang="en-US" sz="1700" dirty="0"/>
          </a:p>
        </p:txBody>
      </p:sp>
      <p:sp>
        <p:nvSpPr>
          <p:cNvPr id="14" name="arrow 4"/>
          <p:cNvSpPr txBox="1"/>
          <p:nvPr/>
        </p:nvSpPr>
        <p:spPr>
          <a:xfrm>
            <a:off x="7872984" y="2057400"/>
            <a:ext cx="246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DF2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agent 5 box"/>
          <p:cNvSpPr/>
          <p:nvPr/>
        </p:nvSpPr>
        <p:spPr>
          <a:xfrm>
            <a:off x="8119872" y="1600200"/>
            <a:ext cx="1645920" cy="1325880"/>
          </a:xfrm>
          <a:prstGeom prst="roundRect">
            <a:avLst>
              <a:gd name="adj" fmla="val 10345"/>
            </a:avLst>
          </a:prstGeom>
          <a:solidFill>
            <a:srgbClr val="FFF6D6"/>
          </a:solidFill>
          <a:ln w="31750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gent 5 label"/>
          <p:cNvSpPr txBox="1"/>
          <p:nvPr/>
        </p:nvSpPr>
        <p:spPr>
          <a:xfrm>
            <a:off x="8193024" y="1691640"/>
            <a:ext cx="14996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2A00"/>
                </a:solidFill>
              </a:rPr>
              <a:t>Verifier</a:t>
            </a:r>
            <a:endParaRPr lang="en-US" sz="17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A2A00"/>
                </a:solidFill>
              </a:rPr>
              <a:t>code</a:t>
            </a:r>
            <a:endParaRPr lang="en-US" sz="1700" dirty="0"/>
          </a:p>
        </p:txBody>
      </p:sp>
      <p:sp>
        <p:nvSpPr>
          <p:cNvPr id="17" name="arrow 5"/>
          <p:cNvSpPr txBox="1"/>
          <p:nvPr/>
        </p:nvSpPr>
        <p:spPr>
          <a:xfrm>
            <a:off x="9765792" y="2057400"/>
            <a:ext cx="246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DF2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agent 6 box"/>
          <p:cNvSpPr/>
          <p:nvPr/>
        </p:nvSpPr>
        <p:spPr>
          <a:xfrm>
            <a:off x="10012680" y="1600200"/>
            <a:ext cx="1645920" cy="1325880"/>
          </a:xfrm>
          <a:prstGeom prst="roundRect">
            <a:avLst>
              <a:gd name="adj" fmla="val 10345"/>
            </a:avLst>
          </a:prstGeom>
          <a:solidFill>
            <a:srgbClr val="FFF6D6"/>
          </a:solidFill>
          <a:ln w="31750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gent 6 label"/>
          <p:cNvSpPr txBox="1"/>
          <p:nvPr/>
        </p:nvSpPr>
        <p:spPr>
          <a:xfrm>
            <a:off x="10085832" y="1691640"/>
            <a:ext cx="14996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2A00"/>
                </a:solidFill>
              </a:rPr>
              <a:t>Output filter</a:t>
            </a:r>
            <a:endParaRPr lang="en-US" sz="17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A2A00"/>
                </a:solidFill>
              </a:rPr>
              <a:t>code</a:t>
            </a:r>
            <a:endParaRPr lang="en-US" sz="1700" dirty="0"/>
          </a:p>
        </p:txBody>
      </p:sp>
      <p:sp>
        <p:nvSpPr>
          <p:cNvPr id="20" name="agent legend"/>
          <p:cNvSpPr txBox="1"/>
          <p:nvPr/>
        </p:nvSpPr>
        <p:spPr>
          <a:xfrm>
            <a:off x="548640" y="3108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83D"/>
                </a:solidFill>
              </a:rPr>
              <a:t>Yellow</a:t>
            </a:r>
            <a:r>
              <a:rPr lang="en-US" sz="1400" dirty="0">
                <a:solidFill>
                  <a:srgbClr val="C9CDF2"/>
                </a:solidFill>
              </a:rPr>
              <a:t> = code (can't be talked out of its rules)   ·   </a:t>
            </a:r>
            <a:r>
              <a:rPr lang="en-US" sz="1400" b="1" dirty="0">
                <a:solidFill>
                  <a:srgbClr val="8EC5FF"/>
                </a:solidFill>
              </a:rPr>
              <a:t>Navy</a:t>
            </a:r>
            <a:r>
              <a:rPr lang="en-US" sz="1400" dirty="0">
                <a:solidFill>
                  <a:srgbClr val="C9CDF2"/>
                </a:solidFill>
              </a:rPr>
              <a:t> = AI model agents</a:t>
            </a:r>
            <a:endParaRPr lang="en-US" sz="1400" dirty="0"/>
          </a:p>
        </p:txBody>
      </p:sp>
      <p:sp>
        <p:nvSpPr>
          <p:cNvPr id="21" name="agent bullets"/>
          <p:cNvSpPr txBox="1"/>
          <p:nvPr/>
        </p:nvSpPr>
        <p:spPr>
          <a:xfrm>
            <a:off x="548640" y="3749040"/>
            <a:ext cx="1106424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gpt-6-luna via Portkey + PydanticAI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Agents </a:t>
            </a:r>
            <a:r>
              <a:rPr lang="en-US" sz="2200" b="1" dirty="0">
                <a:solidFill>
                  <a:srgbClr val="FFFFFF"/>
                </a:solidFill>
              </a:rPr>
              <a:t>can't reach</a:t>
            </a:r>
            <a:r>
              <a:rPr lang="en-US" sz="2200" dirty="0">
                <a:solidFill>
                  <a:srgbClr val="FFFFFF"/>
                </a:solidFill>
              </a:rPr>
              <a:t> accounts, passwords or picks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Results agent only suggests winners; a human approves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C9CD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Demo: one real question</a:t>
            </a:r>
            <a:endParaRPr lang="en-US" sz="4000" dirty="0"/>
          </a:p>
        </p:txBody>
      </p:sp>
      <p:sp>
        <p:nvSpPr>
          <p:cNvPr id="3" name="Ask Joey screenshot frame"/>
          <p:cNvSpPr/>
          <p:nvPr/>
        </p:nvSpPr>
        <p:spPr>
          <a:xfrm>
            <a:off x="2231136" y="1271016"/>
            <a:ext cx="7699248" cy="4853178"/>
          </a:xfrm>
          <a:prstGeom prst="roundRect">
            <a:avLst>
              <a:gd name="adj" fmla="val 2826"/>
            </a:avLst>
          </a:prstGeom>
          <a:solidFill>
            <a:srgbClr val="363B80"/>
          </a:solidFill>
          <a:ln w="31750">
            <a:solidFill>
              <a:srgbClr val="363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Ask Joey screenshot" descr="Ask Joey answer with the step-by-step tra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325880"/>
            <a:ext cx="7589520" cy="4743450"/>
          </a:xfrm>
          <a:prstGeom prst="rect">
            <a:avLst/>
          </a:prstGeom>
        </p:spPr>
      </p:pic>
      <p:sp>
        <p:nvSpPr>
          <p:cNvPr id="5" name="trace caption"/>
          <p:cNvSpPr txBox="1"/>
          <p:nvPr/>
        </p:nvSpPr>
        <p:spPr>
          <a:xfrm>
            <a:off x="548640" y="6263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DF2"/>
                </a:solidFill>
              </a:rPr>
              <a:t>Router → sen-me · Researcher: 1 tool call · Verifier: every number checks out · Output filter: ok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C9CD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Demo: the site</a:t>
            </a:r>
            <a:endParaRPr lang="en-US" sz="4000" dirty="0"/>
          </a:p>
        </p:txBody>
      </p:sp>
      <p:sp>
        <p:nvSpPr>
          <p:cNvPr id="3" name="map screenshot frame"/>
          <p:cNvSpPr/>
          <p:nvPr/>
        </p:nvSpPr>
        <p:spPr>
          <a:xfrm>
            <a:off x="493776" y="1545336"/>
            <a:ext cx="5458968" cy="3453003"/>
          </a:xfrm>
          <a:prstGeom prst="roundRect">
            <a:avLst>
              <a:gd name="adj" fmla="val 3972"/>
            </a:avLst>
          </a:prstGeom>
          <a:solidFill>
            <a:srgbClr val="363B80"/>
          </a:solidFill>
          <a:ln w="31750">
            <a:solidFill>
              <a:srgbClr val="363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map screenshot" descr="Map with the Maine Senate race, endorsements and the incumbent st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349240" cy="3343275"/>
          </a:xfrm>
          <a:prstGeom prst="rect">
            <a:avLst/>
          </a:prstGeom>
        </p:spPr>
      </p:pic>
      <p:sp>
        <p:nvSpPr>
          <p:cNvPr id="5" name="races to watch screenshot frame"/>
          <p:cNvSpPr/>
          <p:nvPr/>
        </p:nvSpPr>
        <p:spPr>
          <a:xfrm>
            <a:off x="6208776" y="1545336"/>
            <a:ext cx="5458968" cy="3453003"/>
          </a:xfrm>
          <a:prstGeom prst="roundRect">
            <a:avLst>
              <a:gd name="adj" fmla="val 3972"/>
            </a:avLst>
          </a:prstGeom>
          <a:solidFill>
            <a:srgbClr val="363B80"/>
          </a:solidFill>
          <a:ln w="31750">
            <a:solidFill>
              <a:srgbClr val="363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races to watch screenshot" descr="Races to Watch li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600200"/>
            <a:ext cx="5349240" cy="3343275"/>
          </a:xfrm>
          <a:prstGeom prst="rect">
            <a:avLst/>
          </a:prstGeom>
        </p:spPr>
      </p:pic>
      <p:sp>
        <p:nvSpPr>
          <p:cNvPr id="7" name="map caption"/>
          <p:cNvSpPr txBox="1"/>
          <p:nvPr/>
        </p:nvSpPr>
        <p:spPr>
          <a:xfrm>
            <a:off x="548640" y="51206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DF2"/>
                </a:solidFill>
              </a:rPr>
              <a:t>The map with endorsements and the incumbent star</a:t>
            </a:r>
            <a:endParaRPr lang="en-US" sz="1400" dirty="0"/>
          </a:p>
        </p:txBody>
      </p:sp>
      <p:sp>
        <p:nvSpPr>
          <p:cNvPr id="8" name="watch caption"/>
          <p:cNvSpPr txBox="1"/>
          <p:nvPr/>
        </p:nvSpPr>
        <p:spPr>
          <a:xfrm>
            <a:off x="6263640" y="51206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DF2"/>
                </a:solidFill>
              </a:rPr>
              <a:t>Races to Watch: the 50 races that decide control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C9CD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Cost (real token counts)</a:t>
            </a:r>
            <a:endParaRPr lang="en-US" sz="4000" dirty="0"/>
          </a:p>
        </p:txBody>
      </p:sp>
      <p:sp>
        <p:nvSpPr>
          <p:cNvPr id="3" name="cost card 1"/>
          <p:cNvSpPr/>
          <p:nvPr/>
        </p:nvSpPr>
        <p:spPr>
          <a:xfrm>
            <a:off x="548640" y="1463040"/>
            <a:ext cx="3474720" cy="1965960"/>
          </a:xfrm>
          <a:prstGeom prst="roundRect">
            <a:avLst>
              <a:gd name="adj" fmla="val 6977"/>
            </a:avLst>
          </a:prstGeom>
          <a:solidFill>
            <a:srgbClr val="1D2053"/>
          </a:solidFill>
          <a:ln w="31750">
            <a:solidFill>
              <a:srgbClr val="363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ost 1 number"/>
          <p:cNvSpPr txBox="1"/>
          <p:nvPr/>
        </p:nvSpPr>
        <p:spPr>
          <a:xfrm>
            <a:off x="777240" y="1554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2,102</a:t>
            </a:r>
            <a:endParaRPr lang="en-US" sz="4800" dirty="0"/>
          </a:p>
        </p:txBody>
      </p:sp>
      <p:sp>
        <p:nvSpPr>
          <p:cNvPr id="5" name="cost 1 label"/>
          <p:cNvSpPr txBox="1"/>
          <p:nvPr/>
        </p:nvSpPr>
        <p:spPr>
          <a:xfrm>
            <a:off x="777240" y="2468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CDF2"/>
                </a:solidFill>
              </a:rPr>
              <a:t>tokens per answered question (1,810 in, 292 out)</a:t>
            </a:r>
            <a:endParaRPr lang="en-US" sz="1500" dirty="0"/>
          </a:p>
        </p:txBody>
      </p:sp>
      <p:sp>
        <p:nvSpPr>
          <p:cNvPr id="6" name="cost card 2"/>
          <p:cNvSpPr/>
          <p:nvPr/>
        </p:nvSpPr>
        <p:spPr>
          <a:xfrm>
            <a:off x="4297680" y="1463040"/>
            <a:ext cx="3474720" cy="1965960"/>
          </a:xfrm>
          <a:prstGeom prst="roundRect">
            <a:avLst>
              <a:gd name="adj" fmla="val 6977"/>
            </a:avLst>
          </a:prstGeom>
          <a:solidFill>
            <a:srgbClr val="1D2053"/>
          </a:solidFill>
          <a:ln w="31750">
            <a:solidFill>
              <a:srgbClr val="363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st 2 number"/>
          <p:cNvSpPr txBox="1"/>
          <p:nvPr/>
        </p:nvSpPr>
        <p:spPr>
          <a:xfrm>
            <a:off x="4526280" y="1554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C83D"/>
                </a:solidFill>
              </a:rPr>
              <a:t>$0.0007–$0.0036</a:t>
            </a:r>
            <a:endParaRPr lang="en-US" sz="2800" dirty="0"/>
          </a:p>
        </p:txBody>
      </p:sp>
      <p:sp>
        <p:nvSpPr>
          <p:cNvPr id="8" name="cost 2 label"/>
          <p:cNvSpPr txBox="1"/>
          <p:nvPr/>
        </p:nvSpPr>
        <p:spPr>
          <a:xfrm>
            <a:off x="4526280" y="2468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CDF2"/>
                </a:solidFill>
              </a:rPr>
              <a:t>per question (estimated prices)</a:t>
            </a:r>
            <a:endParaRPr lang="en-US" sz="1500" dirty="0"/>
          </a:p>
        </p:txBody>
      </p:sp>
      <p:sp>
        <p:nvSpPr>
          <p:cNvPr id="9" name="cost card 3"/>
          <p:cNvSpPr/>
          <p:nvPr/>
        </p:nvSpPr>
        <p:spPr>
          <a:xfrm>
            <a:off x="8046720" y="1463040"/>
            <a:ext cx="3474720" cy="1965960"/>
          </a:xfrm>
          <a:prstGeom prst="roundRect">
            <a:avLst>
              <a:gd name="adj" fmla="val 6977"/>
            </a:avLst>
          </a:prstGeom>
          <a:solidFill>
            <a:srgbClr val="1D2053"/>
          </a:solidFill>
          <a:ln w="31750">
            <a:solidFill>
              <a:srgbClr val="363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ost 3 number"/>
          <p:cNvSpPr txBox="1"/>
          <p:nvPr/>
        </p:nvSpPr>
        <p:spPr>
          <a:xfrm>
            <a:off x="8275320" y="1554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$142–$712</a:t>
            </a:r>
            <a:endParaRPr lang="en-US" sz="4800" dirty="0"/>
          </a:p>
        </p:txBody>
      </p:sp>
      <p:sp>
        <p:nvSpPr>
          <p:cNvPr id="11" name="cost 3 label"/>
          <p:cNvSpPr txBox="1"/>
          <p:nvPr/>
        </p:nvSpPr>
        <p:spPr>
          <a:xfrm>
            <a:off x="8275320" y="2468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CDF2"/>
                </a:solidFill>
              </a:rPr>
              <a:t>per month at 10,000 users</a:t>
            </a:r>
            <a:endParaRPr lang="en-US" sz="1500" dirty="0"/>
          </a:p>
        </p:txBody>
      </p:sp>
      <p:sp>
        <p:nvSpPr>
          <p:cNvPr id="12" name="cost bullets"/>
          <p:cNvSpPr txBox="1"/>
          <p:nvPr/>
        </p:nvSpPr>
        <p:spPr>
          <a:xfrm>
            <a:off x="548640" y="3840480"/>
            <a:ext cx="110642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Attacks cost 0 tokens (code screen) · off-topic: 312 · repeat questions: 0 (cache)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Verifier is code, not a 4th model: saves about 1,000 tokens per question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C9CD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Safety, shown working</a:t>
            </a:r>
            <a:endParaRPr lang="en-US" sz="4000" dirty="0"/>
          </a:p>
        </p:txBody>
      </p:sp>
      <p:sp>
        <p:nvSpPr>
          <p:cNvPr id="3" name="attack blocked screenshot frame"/>
          <p:cNvSpPr/>
          <p:nvPr/>
        </p:nvSpPr>
        <p:spPr>
          <a:xfrm>
            <a:off x="493776" y="1499616"/>
            <a:ext cx="5779008" cy="3653028"/>
          </a:xfrm>
          <a:prstGeom prst="roundRect">
            <a:avLst>
              <a:gd name="adj" fmla="val 3755"/>
            </a:avLst>
          </a:prstGeom>
          <a:solidFill>
            <a:srgbClr val="363B80"/>
          </a:solidFill>
          <a:ln w="31750">
            <a:solidFill>
              <a:srgbClr val="363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attack blocked screenshot" descr="Attack blocked before any agent ru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669280" cy="3543300"/>
          </a:xfrm>
          <a:prstGeom prst="rect">
            <a:avLst/>
          </a:prstGeom>
        </p:spPr>
      </p:pic>
      <p:sp>
        <p:nvSpPr>
          <p:cNvPr id="5" name="safety bullets"/>
          <p:cNvSpPr txBox="1"/>
          <p:nvPr/>
        </p:nvSpPr>
        <p:spPr>
          <a:xfrm>
            <a:off x="6675120" y="1554480"/>
            <a:ext cx="49377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Prompt injection blocked before any agent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No emails; hashed passwords and sessions; lockout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Poisoned results page can't crown a fake winner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Per-run caps + daily token budget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Leagues: unguessable codes, kid-friendly names; news: kid-friendly filter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FFC83D"/>
                </a:solidFill>
              </a:rPr>
              <a:t>42 tests pass</a:t>
            </a:r>
            <a:r>
              <a:rPr lang="en-US" sz="1800" dirty="0">
                <a:solidFill>
                  <a:srgbClr val="FFFFFF"/>
                </a:solidFill>
              </a:rPr>
              <a:t>, 19 of them attacks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C9CD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Impact</a:t>
            </a:r>
            <a:endParaRPr lang="en-US" sz="4000" dirty="0"/>
          </a:p>
        </p:txBody>
      </p:sp>
      <p:sp>
        <p:nvSpPr>
          <p:cNvPr id="3" name="impact 1 number"/>
          <p:cNvSpPr txBox="1"/>
          <p:nvPr/>
        </p:nvSpPr>
        <p:spPr>
          <a:xfrm>
            <a:off x="548640" y="13258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506</a:t>
            </a:r>
            <a:endParaRPr lang="en-US" sz="4800" dirty="0"/>
          </a:p>
        </p:txBody>
      </p:sp>
      <p:sp>
        <p:nvSpPr>
          <p:cNvPr id="4" name="impact 1 label"/>
          <p:cNvSpPr txBox="1"/>
          <p:nvPr/>
        </p:nvSpPr>
        <p:spPr>
          <a:xfrm>
            <a:off x="548640" y="22402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CDF2"/>
                </a:solidFill>
              </a:rPr>
              <a:t>races, 10 outlets each</a:t>
            </a:r>
            <a:endParaRPr lang="en-US" sz="1500" dirty="0"/>
          </a:p>
        </p:txBody>
      </p:sp>
      <p:sp>
        <p:nvSpPr>
          <p:cNvPr id="5" name="impact 2 number"/>
          <p:cNvSpPr txBox="1"/>
          <p:nvPr/>
        </p:nvSpPr>
        <p:spPr>
          <a:xfrm>
            <a:off x="2816352" y="13258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10 s</a:t>
            </a:r>
            <a:endParaRPr lang="en-US" sz="4800" dirty="0"/>
          </a:p>
        </p:txBody>
      </p:sp>
      <p:sp>
        <p:nvSpPr>
          <p:cNvPr id="6" name="impact 2 label"/>
          <p:cNvSpPr txBox="1"/>
          <p:nvPr/>
        </p:nvSpPr>
        <p:spPr>
          <a:xfrm>
            <a:off x="2816352" y="22402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CDF2"/>
                </a:solidFill>
              </a:rPr>
              <a:t>vs 10 to 15 min to compare forecasters</a:t>
            </a:r>
            <a:endParaRPr lang="en-US" sz="1500" dirty="0"/>
          </a:p>
        </p:txBody>
      </p:sp>
      <p:sp>
        <p:nvSpPr>
          <p:cNvPr id="7" name="impact 3 number"/>
          <p:cNvSpPr txBox="1"/>
          <p:nvPr/>
        </p:nvSpPr>
        <p:spPr>
          <a:xfrm>
            <a:off x="5084064" y="13258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46 s</a:t>
            </a:r>
            <a:endParaRPr lang="en-US" sz="4800" dirty="0"/>
          </a:p>
        </p:txBody>
      </p:sp>
      <p:sp>
        <p:nvSpPr>
          <p:cNvPr id="8" name="impact 3 label"/>
          <p:cNvSpPr txBox="1"/>
          <p:nvPr/>
        </p:nvSpPr>
        <p:spPr>
          <a:xfrm>
            <a:off x="5084064" y="22402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CDF2"/>
                </a:solidFill>
              </a:rPr>
              <a:t>fresh clone to running app</a:t>
            </a:r>
            <a:endParaRPr lang="en-US" sz="1500" dirty="0"/>
          </a:p>
        </p:txBody>
      </p:sp>
      <p:sp>
        <p:nvSpPr>
          <p:cNvPr id="9" name="impact 4 number"/>
          <p:cNvSpPr txBox="1"/>
          <p:nvPr/>
        </p:nvSpPr>
        <p:spPr>
          <a:xfrm>
            <a:off x="7351776" y="13258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332</a:t>
            </a:r>
            <a:endParaRPr lang="en-US" sz="4800" dirty="0"/>
          </a:p>
        </p:txBody>
      </p:sp>
      <p:sp>
        <p:nvSpPr>
          <p:cNvPr id="10" name="impact 4 label"/>
          <p:cNvSpPr txBox="1"/>
          <p:nvPr/>
        </p:nvSpPr>
        <p:spPr>
          <a:xfrm>
            <a:off x="7351776" y="22402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CDF2"/>
                </a:solidFill>
              </a:rPr>
              <a:t>candidates with sourced endorsements</a:t>
            </a:r>
            <a:endParaRPr lang="en-US" sz="1500" dirty="0"/>
          </a:p>
        </p:txBody>
      </p:sp>
      <p:sp>
        <p:nvSpPr>
          <p:cNvPr id="11" name="impact 5 number"/>
          <p:cNvSpPr txBox="1"/>
          <p:nvPr/>
        </p:nvSpPr>
        <p:spPr>
          <a:xfrm>
            <a:off x="9619488" y="13258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50</a:t>
            </a:r>
            <a:endParaRPr lang="en-US" sz="4800" dirty="0"/>
          </a:p>
        </p:txBody>
      </p:sp>
      <p:sp>
        <p:nvSpPr>
          <p:cNvPr id="12" name="impact 5 label"/>
          <p:cNvSpPr txBox="1"/>
          <p:nvPr/>
        </p:nvSpPr>
        <p:spPr>
          <a:xfrm>
            <a:off x="9619488" y="22402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CDF2"/>
                </a:solidFill>
              </a:rPr>
              <a:t>races in the prediction game</a:t>
            </a:r>
            <a:endParaRPr lang="en-US" sz="1500" dirty="0"/>
          </a:p>
        </p:txBody>
      </p:sp>
      <p:sp>
        <p:nvSpPr>
          <p:cNvPr id="13" name="user test card"/>
          <p:cNvSpPr/>
          <p:nvPr/>
        </p:nvSpPr>
        <p:spPr>
          <a:xfrm>
            <a:off x="548640" y="3429000"/>
            <a:ext cx="11064240" cy="1965960"/>
          </a:xfrm>
          <a:prstGeom prst="roundRect">
            <a:avLst>
              <a:gd name="adj" fmla="val 6977"/>
            </a:avLst>
          </a:prstGeom>
          <a:solidFill>
            <a:srgbClr val="1D2053"/>
          </a:solidFill>
          <a:ln w="31750">
            <a:solidFill>
              <a:srgbClr val="363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user test result"/>
          <p:cNvSpPr txBox="1"/>
          <p:nvPr/>
        </p:nvSpPr>
        <p:spPr>
          <a:xfrm>
            <a:off x="822960" y="3611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</a:rPr>
              <a:t>Real user test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rgbClr val="FFFFFF"/>
                </a:solidFill>
              </a:rPr>
              <a:t>Classmate A, Ohio Senate: </a:t>
            </a:r>
            <a:r>
              <a:rPr lang="en-US" sz="2200" b="1" dirty="0">
                <a:solidFill>
                  <a:srgbClr val="FFC83D"/>
                </a:solidFill>
              </a:rPr>
              <a:t>2:47 on Google, no ratings found</a:t>
            </a:r>
            <a:r>
              <a:rPr lang="en-US" sz="2200" dirty="0">
                <a:solidFill>
                  <a:srgbClr val="FFFFFF"/>
                </a:solidFill>
              </a:rPr>
              <a:t> vs </a:t>
            </a:r>
            <a:r>
              <a:rPr lang="en-US" sz="2200" b="1" dirty="0">
                <a:solidFill>
                  <a:srgbClr val="FFC83D"/>
                </a:solidFill>
              </a:rPr>
              <a:t>30 s on the site</a:t>
            </a:r>
            <a:r>
              <a:rPr lang="en-US" sz="2200" dirty="0">
                <a:solidFill>
                  <a:srgbClr val="FFFFFF"/>
                </a:solidFill>
              </a:rPr>
              <a:t>, every rating shown</a:t>
            </a:r>
            <a:endParaRPr lang="en-US" sz="2200" dirty="0"/>
          </a:p>
        </p:txBody>
      </p:sp>
      <p:sp>
        <p:nvSpPr>
          <p:cNvPr id="15" name="user test fixes"/>
          <p:cNvSpPr txBox="1"/>
          <p:nvPr/>
        </p:nvSpPr>
        <p:spPr>
          <a:xfrm>
            <a:off x="822960" y="4892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CDF2"/>
                </a:solidFill>
              </a:rPr>
              <a:t>Test found 4 problems (Ask Joey hard to find, sign-up unclear, address unclear, picks too far down). All fixed the same day.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C9CD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Next steps</a:t>
            </a:r>
            <a:endParaRPr lang="en-US" sz="4000" dirty="0"/>
          </a:p>
        </p:txBody>
      </p:sp>
      <p:sp>
        <p:nvSpPr>
          <p:cNvPr id="3" name="next step bullets"/>
          <p:cNvSpPr txBox="1"/>
          <p:nvPr/>
        </p:nvSpPr>
        <p:spPr>
          <a:xfrm>
            <a:off x="548640" y="1463040"/>
            <a:ext cx="110642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Host it so friends can play the game from their phones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Auto-refresh ratings and polls, with human approval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Back-test the model on 2018 to 2024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Election night: feed real results into the practice-tested Election Night view and the leaderboard (Results agent + human approval)</a:t>
            </a:r>
            <a:endParaRPr lang="en-US" sz="2400" dirty="0"/>
          </a:p>
        </p:txBody>
      </p:sp>
      <p:sp>
        <p:nvSpPr>
          <p:cNvPr id="4" name="thank you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EC5FF"/>
                </a:solidFill>
              </a:rPr>
              <a:t>★ Thank you! ★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C9CD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term Tracker">
  <a:themeElements>
    <a:clrScheme name="Midterm Tracker">
      <a:dk1>
        <a:srgbClr val="13153A"/>
      </a:dk1>
      <a:lt1>
        <a:srgbClr val="FFFFFF"/>
      </a:lt1>
      <a:dk2>
        <a:srgbClr val="1D2053"/>
      </a:dk2>
      <a:lt2>
        <a:srgbClr val="C9CDF2"/>
      </a:lt2>
      <a:accent1>
        <a:srgbClr val="B22234"/>
      </a:accent1>
      <a:accent2>
        <a:srgbClr val="8EC5FF"/>
      </a:accent2>
      <a:accent3>
        <a:srgbClr val="FFC83D"/>
      </a:accent3>
      <a:accent4>
        <a:srgbClr val="FF5B6B"/>
      </a:accent4>
      <a:accent5>
        <a:srgbClr val="363B80"/>
      </a:accent5>
      <a:accent6>
        <a:srgbClr val="FFF6D6"/>
      </a:accent6>
      <a:hlink>
        <a:srgbClr val="8EC5FF"/>
      </a:hlink>
      <a:folHlink>
        <a:srgbClr val="C9CDF2"/>
      </a:folHlink>
    </a:clrScheme>
    <a:fontScheme name="Midterm Track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740</Words>
  <Application>Microsoft Office PowerPoint</Application>
  <PresentationFormat>Widescreen</PresentationFormat>
  <Paragraphs>117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Midterm Tracker</vt:lpstr>
      <vt:lpstr>★ 2026 Midterm Tracker ★</vt:lpstr>
      <vt:lpstr>The Problem</vt:lpstr>
      <vt:lpstr>★ NOT ANYMORE!!! ★</vt:lpstr>
      <vt:lpstr>The Solution</vt:lpstr>
      <vt:lpstr>What’s New</vt:lpstr>
      <vt:lpstr>The agent team</vt:lpstr>
      <vt:lpstr>Demo: one real question</vt:lpstr>
      <vt:lpstr>Demo: the site</vt:lpstr>
      <vt:lpstr>Cost (real token counts)</vt:lpstr>
      <vt:lpstr>Safety, shown working</vt:lpstr>
      <vt:lpstr>Impact</vt:lpstr>
      <vt:lpstr>Next steps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Midterm Tracker</dc:title>
  <dc:subject>PptxGenJS Presentation</dc:subject>
  <dc:creator>Joey Simone</dc:creator>
  <cp:lastModifiedBy>Joey Simone</cp:lastModifiedBy>
  <cp:revision>1</cp:revision>
  <dcterms:created xsi:type="dcterms:W3CDTF">2026-10-24T22:42:48Z</dcterms:created>
  <dcterms:modified xsi:type="dcterms:W3CDTF">2026-10-24T22:56:42Z</dcterms:modified>
</cp:coreProperties>
</file>